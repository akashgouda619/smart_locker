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0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4400" b="1">
                <a:solidFill>
                  <a:srgbClr val="FFFFFF"/>
                </a:solidFill>
                <a:latin typeface="Arial"/>
              </a:defRPr>
            </a:pPr>
            <a:r>
              <a:t>IoT-Based Smart Rental Locker System</a:t>
            </a:r>
          </a:p>
          <a:p>
            <a:pPr algn="l">
              <a:defRPr sz="2200">
                <a:solidFill>
                  <a:srgbClr val="A3A3A3"/>
                </a:solidFill>
                <a:latin typeface="Arial"/>
              </a:defRPr>
            </a:pPr>
            <a:r>
              <a:t>Prototype Design: Integrated Hardware, Web Backend, &amp; UPI Verification 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Project Overview &amp; Core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200"/>
              </a:spcAft>
              <a:defRPr sz="1800">
                <a:solidFill>
                  <a:srgbClr val="E5E5E5"/>
                </a:solidFill>
                <a:latin typeface="Arial"/>
              </a:defRPr>
            </a:pPr>
            <a:r>
              <a:t>• State-Driven Architecture: Avoids recursive loops and display flickering.</a:t>
            </a:r>
          </a:p>
          <a:p>
            <a:pPr>
              <a:spcAft>
                <a:spcPts val="1200"/>
              </a:spcAft>
              <a:defRPr sz="1800">
                <a:solidFill>
                  <a:srgbClr val="E5E5E5"/>
                </a:solidFill>
                <a:latin typeface="Arial"/>
              </a:defRPr>
            </a:pPr>
            <a:r>
              <a:t>• HTTP-Based Polling Loop: The ESP32 polls the server status endpoint every 3 seconds.</a:t>
            </a:r>
          </a:p>
          <a:p>
            <a:pPr>
              <a:spcAft>
                <a:spcPts val="1200"/>
              </a:spcAft>
              <a:defRPr sz="1800">
                <a:solidFill>
                  <a:srgbClr val="E5E5E5"/>
                </a:solidFill>
                <a:latin typeface="Arial"/>
              </a:defRPr>
            </a:pPr>
            <a:r>
              <a:t>• Out-of-Band Physical OTP: Dynamic 6-digit retrieval code is shown on the locker screen.</a:t>
            </a:r>
          </a:p>
          <a:p>
            <a:pPr>
              <a:spcAft>
                <a:spcPts val="1200"/>
              </a:spcAft>
              <a:defRPr sz="1800">
                <a:solidFill>
                  <a:srgbClr val="E5E5E5"/>
                </a:solidFill>
                <a:latin typeface="Arial"/>
              </a:defRPr>
            </a:pPr>
            <a:r>
              <a:t>• Local SQLite Ledger: SQLite tracks bookings, locker states, and payments dynamically.</a:t>
            </a:r>
          </a:p>
          <a:p>
            <a:pPr>
              <a:spcAft>
                <a:spcPts val="1200"/>
              </a:spcAft>
              <a:defRPr sz="1800">
                <a:solidFill>
                  <a:srgbClr val="E5E5E5"/>
                </a:solidFill>
                <a:latin typeface="Arial"/>
              </a:defRPr>
            </a:pPr>
            <a:r>
              <a:t>• verification Page: Web app verifies payment reference number (UTR) to activate storage locks.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1. Complete System Block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C55E"/>
                </a:solidFill>
                <a:latin typeface="Arial"/>
              </a:defRPr>
            </a:pPr>
            <a:r>
              <a:t>System Architecture &amp; Interactions: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The prototype coordinates physical hardware locks with web databases and UPI payment confirmation via local network protocols.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1. The ESP32 acts as the physical client, continuously polling the Flask backend via secure Wi-Fi HTTP requests to check current states.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2. The Flask Backend manages relational logic and booking timers, reading and writing to an SQLite transaction database.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3. Users interact via a mobile web portal to book lockers, view instructions, and submit transaction UTR codes to unlock doors.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4. This decoupled system eliminates cellular SMS gateway dependencies by rendering the retrieval OTP directly on the locker's physical TFT screen.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2. Full Circuit Design &amp; Connections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22C55E"/>
                </a:solidFill>
                <a:latin typeface="Arial"/>
              </a:defRPr>
            </a:pPr>
            <a:r>
              <a:t>Hardware Connections &amp; Interfaces: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The circuit integrates an ESP32 board, a 2.4" SPI TFT LCD screen, and an SG90 analog servo motor.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• ESP32 NodeMCU LX6: Operates at 240 MHz, handles SPI display drawing and PWM servo control.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• SPI TFT Display: Pin connections CS (GPIO 15), RESET (GPIO 4), D/C (GPIO 2), MOSI (GPIO 23), and SCK (GPIO 18).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• SG90 Servo Control: High-torque servo powered from Vin (5V) to prevent brown-out resets, driven by a 50Hz PWM signal from GPIO 26.</a:t>
            </a:r>
          </a:p>
          <a:p>
            <a:pPr>
              <a:spcAft>
                <a:spcPts val="10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• Common Ground: All components share a common ground (GND) to maintain electrical logic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Hardware Datasheet Specifications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E5E5E5"/>
                </a:solidFill>
                <a:latin typeface="Arial"/>
              </a:defRPr>
            </a:pPr>
            <a:r>
              <a:t>• ESP32 Microcontroller: 3.3V logic level (maximum current output per GPIO is 12mA). Powers down USB-to-UART bridge when idle.</a:t>
            </a:r>
          </a:p>
          <a:p>
            <a:pPr>
              <a:spcAft>
                <a:spcPts val="1200"/>
              </a:spcAft>
              <a:defRPr sz="1700">
                <a:solidFill>
                  <a:srgbClr val="E5E5E5"/>
                </a:solidFill>
                <a:latin typeface="Arial"/>
              </a:defRPr>
            </a:pPr>
            <a:r>
              <a:t>• ILI9341 2.4" TFT: Screen requires ~3.3V power, 320x240 pixels (RGB), 16-bit color. Draw logic driven by hardware SPI lines.</a:t>
            </a:r>
          </a:p>
          <a:p>
            <a:pPr>
              <a:spcAft>
                <a:spcPts val="1200"/>
              </a:spcAft>
              <a:defRPr sz="1700">
                <a:solidFill>
                  <a:srgbClr val="E5E5E5"/>
                </a:solidFill>
                <a:latin typeface="Arial"/>
              </a:defRPr>
            </a:pPr>
            <a:r>
              <a:t>• SG90 Micro Servo: Stall torque 1.8 kg-cm. Operating voltage 4.8V - 6V. Requires Vin connection since 3.3V rail lacks sufficient surge current.</a:t>
            </a:r>
          </a:p>
          <a:p>
            <a:pPr>
              <a:spcAft>
                <a:spcPts val="1200"/>
              </a:spcAft>
              <a:defRPr sz="1700">
                <a:solidFill>
                  <a:srgbClr val="E5E5E5"/>
                </a:solidFill>
                <a:latin typeface="Arial"/>
              </a:defRPr>
            </a:pPr>
            <a:r>
              <a:t>• Backlight Power: TFT backlighting LED requires 20mA. Driven from 3.3V rail through a 100-ohm current-limiting resistor.</a:t>
            </a:r>
          </a:p>
          <a:p>
            <a:pPr>
              <a:spcAft>
                <a:spcPts val="1200"/>
              </a:spcAft>
              <a:defRPr sz="1700">
                <a:solidFill>
                  <a:srgbClr val="E5E5E5"/>
                </a:solidFill>
                <a:latin typeface="Arial"/>
              </a:defRPr>
            </a:pPr>
            <a:r>
              <a:t>• Logic Protection: Connecting 5V components directly to ESP32 inputs requires level shifters or resistor divider networks to protect GPIOs.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3. Software State Machine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0" y="128016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22C55E"/>
                </a:solidFill>
                <a:latin typeface="Arial"/>
              </a:defRPr>
            </a:pPr>
            <a:r>
              <a:t>State Transition Matrix: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The firmware functions as a state machine governed by the backend DB booking state: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1. STATE_AVAILABLE: Displays website QR code on screen. Servo is 0° (locked).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2. STATE_PENDING_PAYMENT: Displays payment UPI QR code on screen.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3. STATE_WAITING_FOR_CLOSE: Payment verified, servo unlocks to 90° (door open).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4. STATE_ACTIVE_RENTAL: Locker door locked, TFT screen renders RTC rental timer.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5. STATE_OTP_GENERATED: Renders large centered white card containing 6-digit OTP.</a:t>
            </a:r>
          </a:p>
          <a:p>
            <a:pPr>
              <a:spcAft>
                <a:spcPts val="800"/>
              </a:spcAft>
              <a:defRPr sz="1500">
                <a:solidFill>
                  <a:srgbClr val="E5E5E5"/>
                </a:solidFill>
                <a:latin typeface="Arial"/>
              </a:defRPr>
            </a:pPr>
            <a:r>
              <a:t>6. STATE_RETRIEVAL_APPROVED: OTP verified, servo unlocks to 90° for item retrieval.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0C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Presentation Q&amp;A &amp; Key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745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  <a:latin typeface="Arial"/>
              </a:defRPr>
            </a:pPr>
            <a:r>
              <a:t>Q: Why use a TFT Screen to display the retrieval OTP?</a:t>
            </a:r>
          </a:p>
          <a:p>
            <a:pPr>
              <a:spcAft>
                <a:spcPts val="1200"/>
              </a:spcAft>
              <a:defRPr sz="1600">
                <a:solidFill>
                  <a:srgbClr val="E5E5E5"/>
                </a:solidFill>
                <a:latin typeface="Arial"/>
              </a:defRPr>
            </a:pPr>
            <a:r>
              <a:t>A: SMS gateways charge recurring fees and have delivery latency. TFT display OTP acts as a zero-cost physical proof of presence factor.</a:t>
            </a:r>
          </a:p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  <a:latin typeface="Arial"/>
              </a:defRPr>
            </a:pPr>
            <a:r>
              <a:t>Q: How is the locker servo secured during database timeouts or crashes?</a:t>
            </a:r>
          </a:p>
          <a:p>
            <a:pPr>
              <a:spcAft>
                <a:spcPts val="1200"/>
              </a:spcAft>
              <a:defRPr sz="1600">
                <a:solidFill>
                  <a:srgbClr val="E5E5E5"/>
                </a:solidFill>
                <a:latin typeface="Arial"/>
              </a:defRPr>
            </a:pPr>
            <a:r>
              <a:t>A: Servo requires continuous PWM signals to move. Without power or on crash, it holds position. Status is restored upon ESP32 reboot.</a:t>
            </a:r>
          </a:p>
          <a:p>
            <a:pPr>
              <a:spcAft>
                <a:spcPts val="1200"/>
              </a:spcAft>
              <a:defRPr sz="1600" b="1">
                <a:solidFill>
                  <a:srgbClr val="22C55E"/>
                </a:solidFill>
                <a:latin typeface="Arial"/>
              </a:defRPr>
            </a:pPr>
            <a:r>
              <a:t>Q: How does automatic payment detection work in the prototype?</a:t>
            </a:r>
          </a:p>
          <a:p>
            <a:pPr>
              <a:spcAft>
                <a:spcPts val="1200"/>
              </a:spcAft>
              <a:defRPr sz="1600">
                <a:solidFill>
                  <a:srgbClr val="E5E5E5"/>
                </a:solidFill>
                <a:latin typeface="Arial"/>
              </a:defRPr>
            </a:pPr>
            <a:r>
              <a:t>A: Users submit their transaction UTR on the web portal. The backend verifies the UTR formatting and sets status to paid.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742</Words>
  <Application>Microsoft Office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Akashgouda Kopparad</cp:lastModifiedBy>
  <cp:revision>1</cp:revision>
  <dcterms:created xsi:type="dcterms:W3CDTF">2013-01-27T09:14:16Z</dcterms:created>
  <dcterms:modified xsi:type="dcterms:W3CDTF">2026-06-10T04:49:37Z</dcterms:modified>
  <cp:category/>
</cp:coreProperties>
</file>